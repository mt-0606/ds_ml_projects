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57222C-EF61-4392-B2A0-01E0E9EBD71A}">
  <a:tblStyle styleId="{1457222C-EF61-4392-B2A0-01E0E9EBD71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bcdb710c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bcdb710c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bcdb710c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bcdb710c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GB" sz="1200">
                <a:solidFill>
                  <a:srgbClr val="595959"/>
                </a:solidFill>
              </a:rPr>
              <a:t>The majority of species do not have a documented conservation status (e.g. ‘Endangered’, ‘Threatened’, ‘Species Of Concern’). As such, I kept these species by giving them a new designation -- ‘Not Listed’.</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bcdb710c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bcdb710c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595959"/>
              </a:buClr>
              <a:buSzPts val="1200"/>
              <a:buChar char="-"/>
            </a:pPr>
            <a:r>
              <a:rPr lang="en-GB" sz="1200">
                <a:solidFill>
                  <a:srgbClr val="595959"/>
                </a:solidFill>
              </a:rPr>
              <a:t>These graphs side by side tell a story of which animals are most at risk.</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lang="en-GB" sz="1200">
                <a:solidFill>
                  <a:srgbClr val="595959"/>
                </a:solidFill>
              </a:rPr>
              <a:t>Not only are there more birds in the ‘Species of Concern’ category, but all endangered birds are at risk of extinction. However, there are also more birds in the ‘In Recovery’ category than any other animal, suggesting things are improving in certain parks for certain avian species.</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lang="en-GB" sz="1200">
                <a:solidFill>
                  <a:srgbClr val="595959"/>
                </a:solidFill>
              </a:rPr>
              <a:t>All reptiles are in concern, but none are threatened or endangered. However, this does not guarantee that they are safe from harm.</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lang="en-GB" sz="1200">
                <a:solidFill>
                  <a:srgbClr val="595959"/>
                </a:solidFill>
              </a:rPr>
              <a:t>More mammals are endangered than any other kind of animal, and they come in second in the ‘Species of Concern’ category.</a:t>
            </a:r>
            <a:endParaRPr sz="1200">
              <a:solidFill>
                <a:srgbClr val="595959"/>
              </a:solidFill>
            </a:endParaRPr>
          </a:p>
          <a:p>
            <a:pPr indent="0" lvl="0" marL="0" rtl="0" algn="l">
              <a:spcBef>
                <a:spcPts val="1200"/>
              </a:spcBef>
              <a:spcAft>
                <a:spcPts val="0"/>
              </a:spcAft>
              <a:buNone/>
            </a:pPr>
            <a:r>
              <a:t/>
            </a:r>
            <a:endParaRP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bcdb710c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ebcdb710c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595959"/>
              </a:buClr>
              <a:buSzPts val="1200"/>
              <a:buChar char="-"/>
            </a:pPr>
            <a:r>
              <a:rPr lang="en-GB" sz="1200">
                <a:solidFill>
                  <a:srgbClr val="595959"/>
                </a:solidFill>
              </a:rPr>
              <a:t>Because the p-value is significantly less than 0.05, we can reject the null hypothesis; there is a strong relationship between the type of species and its at-risk status.</a:t>
            </a:r>
            <a:endParaRPr sz="1200">
              <a:solidFill>
                <a:srgbClr val="595959"/>
              </a:solidFill>
            </a:endParaRPr>
          </a:p>
          <a:p>
            <a:pPr indent="-304800" lvl="0" marL="457200" rtl="0" algn="l">
              <a:spcBef>
                <a:spcPts val="0"/>
              </a:spcBef>
              <a:spcAft>
                <a:spcPts val="0"/>
              </a:spcAft>
              <a:buClr>
                <a:srgbClr val="595959"/>
              </a:buClr>
              <a:buSzPts val="1200"/>
              <a:buChar char="-"/>
            </a:pPr>
            <a:r>
              <a:rPr lang="en-GB" sz="1200">
                <a:solidFill>
                  <a:srgbClr val="595959"/>
                </a:solidFill>
              </a:rPr>
              <a:t>In fact, plants are proportionately more likely to be classified as not at risk than animals. However, because an earlier graph revealed most species were not listed, 'not at risk' does not necessarily mean plants are safe.</a:t>
            </a:r>
            <a:endParaRPr sz="1200">
              <a:solidFill>
                <a:srgbClr val="595959"/>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bcdb710c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bcdb710c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bcdb710c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bcdb710c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595959"/>
              </a:buClr>
              <a:buSzPts val="1200"/>
              <a:buChar char="-"/>
            </a:pPr>
            <a:r>
              <a:rPr lang="en-GB" sz="1200">
                <a:solidFill>
                  <a:srgbClr val="595959"/>
                </a:solidFill>
              </a:rPr>
              <a:t>Both graphs show the top ten most common species in each park.</a:t>
            </a:r>
            <a:endParaRPr sz="1200">
              <a:solidFill>
                <a:srgbClr val="595959"/>
              </a:solidFill>
            </a:endParaRPr>
          </a:p>
          <a:p>
            <a:pPr indent="-304800" lvl="0" marL="457200" rtl="0" algn="l">
              <a:spcBef>
                <a:spcPts val="0"/>
              </a:spcBef>
              <a:spcAft>
                <a:spcPts val="0"/>
              </a:spcAft>
              <a:buClr>
                <a:srgbClr val="595959"/>
              </a:buClr>
              <a:buSzPts val="1200"/>
              <a:buChar char="-"/>
            </a:pPr>
            <a:r>
              <a:rPr lang="en-GB" sz="1200">
                <a:solidFill>
                  <a:srgbClr val="595959"/>
                </a:solidFill>
              </a:rPr>
              <a:t>At a glance, Yellowstone National Park has the highest observed number of species while Great Smoky Mountains National Park has the least.</a:t>
            </a:r>
            <a:endParaRPr sz="1200">
              <a:solidFill>
                <a:srgbClr val="595959"/>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Biodiversity Slide Deck</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A Codecademy Slide Deck by Michael Tariku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Species Data - Contents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This dataset contains over 5,000 species and their conservation statuses, if applicable</a:t>
            </a:r>
            <a:endParaRPr/>
          </a:p>
          <a:p>
            <a:pPr indent="-342900" lvl="0" marL="457200" rtl="0" algn="l">
              <a:spcBef>
                <a:spcPts val="0"/>
              </a:spcBef>
              <a:spcAft>
                <a:spcPts val="0"/>
              </a:spcAft>
              <a:buSzPts val="1800"/>
              <a:buChar char="-"/>
            </a:pPr>
            <a:r>
              <a:rPr lang="en-GB"/>
              <a:t>Each species belongs to one of seven categories: Mammal, Bird, Fish, Amphibian, Reptile, Non-vascular Plant, and Vascular Plant</a:t>
            </a:r>
            <a:endParaRPr/>
          </a:p>
          <a:p>
            <a:pPr indent="-342900" lvl="0" marL="457200" rtl="0" algn="l">
              <a:spcBef>
                <a:spcPts val="0"/>
              </a:spcBef>
              <a:spcAft>
                <a:spcPts val="0"/>
              </a:spcAft>
              <a:buSzPts val="1800"/>
              <a:buChar char="-"/>
            </a:pPr>
            <a:r>
              <a:rPr lang="en-GB"/>
              <a:t>Scientific names correspond to one (or multiple) common names -- it is surmised that multiple common names for species are what they are called in different parks</a:t>
            </a:r>
            <a:endParaRPr/>
          </a:p>
          <a:p>
            <a:pPr indent="-342900" lvl="0" marL="457200" rtl="0" algn="l">
              <a:spcBef>
                <a:spcPts val="0"/>
              </a:spcBef>
              <a:spcAft>
                <a:spcPts val="0"/>
              </a:spcAft>
              <a:buSzPts val="1800"/>
              <a:buChar char="-"/>
            </a:pPr>
            <a:r>
              <a:rPr lang="en-GB"/>
              <a:t>However, this dataset alone does not tell one what names species with multiple common names are called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Species Data: Conservation Status</a:t>
            </a:r>
            <a:endParaRPr/>
          </a:p>
        </p:txBody>
      </p:sp>
      <p:pic>
        <p:nvPicPr>
          <p:cNvPr id="67" name="Google Shape;67;p15" title="conservation_status.png"/>
          <p:cNvPicPr preferRelativeResize="0"/>
          <p:nvPr/>
        </p:nvPicPr>
        <p:blipFill>
          <a:blip r:embed="rId3">
            <a:alphaModFix/>
          </a:blip>
          <a:stretch>
            <a:fillRect/>
          </a:stretch>
        </p:blipFill>
        <p:spPr>
          <a:xfrm>
            <a:off x="1821496" y="1017725"/>
            <a:ext cx="5501016" cy="4125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Species Data: Species At Risk</a:t>
            </a:r>
            <a:endParaRPr/>
          </a:p>
        </p:txBody>
      </p:sp>
      <p:pic>
        <p:nvPicPr>
          <p:cNvPr id="73" name="Google Shape;73;p16" title="listed_animal_distributions.png"/>
          <p:cNvPicPr preferRelativeResize="0"/>
          <p:nvPr/>
        </p:nvPicPr>
        <p:blipFill>
          <a:blip r:embed="rId3">
            <a:alphaModFix/>
          </a:blip>
          <a:stretch>
            <a:fillRect/>
          </a:stretch>
        </p:blipFill>
        <p:spPr>
          <a:xfrm>
            <a:off x="311700" y="1017725"/>
            <a:ext cx="4156400" cy="3877825"/>
          </a:xfrm>
          <a:prstGeom prst="rect">
            <a:avLst/>
          </a:prstGeom>
          <a:noFill/>
          <a:ln>
            <a:noFill/>
          </a:ln>
        </p:spPr>
      </p:pic>
      <p:pic>
        <p:nvPicPr>
          <p:cNvPr id="74" name="Google Shape;74;p16" title="at_risk.png"/>
          <p:cNvPicPr preferRelativeResize="0"/>
          <p:nvPr/>
        </p:nvPicPr>
        <p:blipFill>
          <a:blip r:embed="rId4">
            <a:alphaModFix/>
          </a:blip>
          <a:stretch>
            <a:fillRect/>
          </a:stretch>
        </p:blipFill>
        <p:spPr>
          <a:xfrm>
            <a:off x="4468100" y="1017725"/>
            <a:ext cx="4156400" cy="3877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Species Data: Statistical Significance</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Null hypothesis: whether a species is a plant or animal has no effect on whether it is at risk (i.e. endangered or threatened)</a:t>
            </a:r>
            <a:endParaRPr/>
          </a:p>
          <a:p>
            <a:pPr indent="-342900" lvl="0" marL="457200" rtl="0" algn="l">
              <a:spcBef>
                <a:spcPts val="0"/>
              </a:spcBef>
              <a:spcAft>
                <a:spcPts val="0"/>
              </a:spcAft>
              <a:buSzPts val="1800"/>
              <a:buChar char="-"/>
            </a:pPr>
            <a:r>
              <a:rPr lang="en-GB"/>
              <a:t>The corresponding contingency table: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GB"/>
              <a:t>Resulting p-value: 4.764995109047095e-19</a:t>
            </a:r>
            <a:endParaRPr/>
          </a:p>
        </p:txBody>
      </p:sp>
      <p:graphicFrame>
        <p:nvGraphicFramePr>
          <p:cNvPr id="81" name="Google Shape;81;p17"/>
          <p:cNvGraphicFramePr/>
          <p:nvPr/>
        </p:nvGraphicFramePr>
        <p:xfrm>
          <a:off x="952500" y="2289175"/>
          <a:ext cx="3000000" cy="3000000"/>
        </p:xfrm>
        <a:graphic>
          <a:graphicData uri="http://schemas.openxmlformats.org/drawingml/2006/table">
            <a:tbl>
              <a:tblPr>
                <a:noFill/>
                <a:tableStyleId>{1457222C-EF61-4392-B2A0-01E0E9EBD71A}</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GB"/>
                        <a:t>NOT AT RISK</a:t>
                      </a:r>
                      <a:endParaRPr/>
                    </a:p>
                  </a:txBody>
                  <a:tcPr marT="91425" marB="91425" marR="91425" marL="91425"/>
                </a:tc>
                <a:tc>
                  <a:txBody>
                    <a:bodyPr/>
                    <a:lstStyle/>
                    <a:p>
                      <a:pPr indent="0" lvl="0" marL="0" rtl="0" algn="l">
                        <a:spcBef>
                          <a:spcPts val="0"/>
                        </a:spcBef>
                        <a:spcAft>
                          <a:spcPts val="0"/>
                        </a:spcAft>
                        <a:buNone/>
                      </a:pPr>
                      <a:r>
                        <a:rPr lang="en-GB"/>
                        <a:t>AT RISK</a:t>
                      </a:r>
                      <a:endParaRPr/>
                    </a:p>
                  </a:txBody>
                  <a:tcPr marT="91425" marB="91425" marR="91425" marL="91425"/>
                </a:tc>
              </a:tr>
              <a:tr h="381000">
                <a:tc>
                  <a:txBody>
                    <a:bodyPr/>
                    <a:lstStyle/>
                    <a:p>
                      <a:pPr indent="0" lvl="0" marL="0" rtl="0" algn="l">
                        <a:spcBef>
                          <a:spcPts val="0"/>
                        </a:spcBef>
                        <a:spcAft>
                          <a:spcPts val="0"/>
                        </a:spcAft>
                        <a:buNone/>
                      </a:pPr>
                      <a:r>
                        <a:rPr lang="en-GB"/>
                        <a:t>ANIMAL</a:t>
                      </a:r>
                      <a:endParaRPr/>
                    </a:p>
                  </a:txBody>
                  <a:tcPr marT="91425" marB="91425" marR="91425" marL="91425"/>
                </a:tc>
                <a:tc>
                  <a:txBody>
                    <a:bodyPr/>
                    <a:lstStyle/>
                    <a:p>
                      <a:pPr indent="0" lvl="0" marL="0" rtl="0" algn="l">
                        <a:spcBef>
                          <a:spcPts val="0"/>
                        </a:spcBef>
                        <a:spcAft>
                          <a:spcPts val="0"/>
                        </a:spcAft>
                        <a:buNone/>
                      </a:pPr>
                      <a:r>
                        <a:rPr lang="en-GB"/>
                        <a:t>925</a:t>
                      </a:r>
                      <a:endParaRPr/>
                    </a:p>
                  </a:txBody>
                  <a:tcPr marT="91425" marB="91425" marR="91425" marL="91425"/>
                </a:tc>
                <a:tc>
                  <a:txBody>
                    <a:bodyPr/>
                    <a:lstStyle/>
                    <a:p>
                      <a:pPr indent="0" lvl="0" marL="0" rtl="0" algn="l">
                        <a:spcBef>
                          <a:spcPts val="0"/>
                        </a:spcBef>
                        <a:spcAft>
                          <a:spcPts val="0"/>
                        </a:spcAft>
                        <a:buNone/>
                      </a:pPr>
                      <a:r>
                        <a:rPr lang="en-GB"/>
                        <a:t>21</a:t>
                      </a:r>
                      <a:endParaRPr/>
                    </a:p>
                  </a:txBody>
                  <a:tcPr marT="91425" marB="91425" marR="91425" marL="91425"/>
                </a:tc>
              </a:tr>
              <a:tr h="381000">
                <a:tc>
                  <a:txBody>
                    <a:bodyPr/>
                    <a:lstStyle/>
                    <a:p>
                      <a:pPr indent="0" lvl="0" marL="0" rtl="0" algn="l">
                        <a:spcBef>
                          <a:spcPts val="0"/>
                        </a:spcBef>
                        <a:spcAft>
                          <a:spcPts val="0"/>
                        </a:spcAft>
                        <a:buNone/>
                      </a:pPr>
                      <a:r>
                        <a:rPr lang="en-GB"/>
                        <a:t>PLANT</a:t>
                      </a:r>
                      <a:endParaRPr/>
                    </a:p>
                  </a:txBody>
                  <a:tcPr marT="91425" marB="91425" marR="91425" marL="91425"/>
                </a:tc>
                <a:tc>
                  <a:txBody>
                    <a:bodyPr/>
                    <a:lstStyle/>
                    <a:p>
                      <a:pPr indent="0" lvl="0" marL="0" rtl="0" algn="l">
                        <a:spcBef>
                          <a:spcPts val="0"/>
                        </a:spcBef>
                        <a:spcAft>
                          <a:spcPts val="0"/>
                        </a:spcAft>
                        <a:buNone/>
                      </a:pPr>
                      <a:r>
                        <a:rPr lang="en-GB"/>
                        <a:t>4,592</a:t>
                      </a:r>
                      <a:endParaRPr/>
                    </a:p>
                  </a:txBody>
                  <a:tcPr marT="91425" marB="91425" marR="91425" marL="91425"/>
                </a:tc>
                <a:tc>
                  <a:txBody>
                    <a:bodyPr/>
                    <a:lstStyle/>
                    <a:p>
                      <a:pPr indent="0" lvl="0" marL="0" rtl="0" algn="l">
                        <a:spcBef>
                          <a:spcPts val="0"/>
                        </a:spcBef>
                        <a:spcAft>
                          <a:spcPts val="0"/>
                        </a:spcAft>
                        <a:buNone/>
                      </a:pPr>
                      <a:r>
                        <a:rPr lang="en-GB"/>
                        <a:t>3</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Observations Data: Contents</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This dataset contains recorded sightings of over 23,000 species in four national parks over the past week</a:t>
            </a:r>
            <a:endParaRPr/>
          </a:p>
          <a:p>
            <a:pPr indent="-342900" lvl="0" marL="457200" rtl="0" algn="l">
              <a:spcBef>
                <a:spcPts val="0"/>
              </a:spcBef>
              <a:spcAft>
                <a:spcPts val="0"/>
              </a:spcAft>
              <a:buSzPts val="1800"/>
              <a:buChar char="-"/>
            </a:pPr>
            <a:r>
              <a:rPr lang="en-GB"/>
              <a:t>The number of </a:t>
            </a:r>
            <a:r>
              <a:rPr lang="en-GB"/>
              <a:t>species</a:t>
            </a:r>
            <a:r>
              <a:rPr lang="en-GB"/>
              <a:t> counted in each park is given in the observations column; although this alone is not a clear metric of biodiversity, it could say something about park size and sampling effort</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Observations Data: Most Common Species by Park</a:t>
            </a:r>
            <a:endParaRPr/>
          </a:p>
        </p:txBody>
      </p:sp>
      <p:pic>
        <p:nvPicPr>
          <p:cNvPr id="93" name="Google Shape;93;p19" title="Yellowstone National Park_species.png"/>
          <p:cNvPicPr preferRelativeResize="0"/>
          <p:nvPr/>
        </p:nvPicPr>
        <p:blipFill>
          <a:blip r:embed="rId3">
            <a:alphaModFix/>
          </a:blip>
          <a:stretch>
            <a:fillRect/>
          </a:stretch>
        </p:blipFill>
        <p:spPr>
          <a:xfrm>
            <a:off x="0" y="1562104"/>
            <a:ext cx="4572000" cy="3429022"/>
          </a:xfrm>
          <a:prstGeom prst="rect">
            <a:avLst/>
          </a:prstGeom>
          <a:noFill/>
          <a:ln>
            <a:noFill/>
          </a:ln>
        </p:spPr>
      </p:pic>
      <p:pic>
        <p:nvPicPr>
          <p:cNvPr id="94" name="Google Shape;94;p19" title="Great Smoky Mountains National Park_species.png"/>
          <p:cNvPicPr preferRelativeResize="0"/>
          <p:nvPr/>
        </p:nvPicPr>
        <p:blipFill>
          <a:blip r:embed="rId4">
            <a:alphaModFix/>
          </a:blip>
          <a:stretch>
            <a:fillRect/>
          </a:stretch>
        </p:blipFill>
        <p:spPr>
          <a:xfrm>
            <a:off x="4572000" y="1562107"/>
            <a:ext cx="4572000" cy="342899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